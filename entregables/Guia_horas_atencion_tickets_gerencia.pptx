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6f574750a341cf" /><Relationship Type="http://schemas.openxmlformats.org/officeDocument/2006/relationships/extended-properties" Target="/docProps/app.xml" Id="R673251f0e0634777" /><Relationship Type="http://schemas.openxmlformats.org/officeDocument/2006/relationships/officeDocument" Target="/ppt/presentation.xml" Id="Receb5da2b11e46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af2760c9be41e5"/>
  </p:sldMasterIdLst>
  <p:notesMasterIdLst>
    <p:notesMasterId xmlns:r="http://schemas.openxmlformats.org/officeDocument/2006/relationships" r:id="Rd0aaadfce6d04b22"/>
  </p:notesMasterIdLst>
  <p:sldIdLst>
    <p:sldId xmlns:r="http://schemas.openxmlformats.org/officeDocument/2006/relationships" id="256" r:id="Rec71b511a4574395"/>
    <p:sldId xmlns:r="http://schemas.openxmlformats.org/officeDocument/2006/relationships" id="257" r:id="R856dfe95c80e4c24"/>
    <p:sldId xmlns:r="http://schemas.openxmlformats.org/officeDocument/2006/relationships" id="258" r:id="Rf49c4be653cb45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eca8382b8c42d1" /><Relationship Type="http://schemas.openxmlformats.org/officeDocument/2006/relationships/slideMaster" Target="/ppt/slideMasters/slideMaster1.xml" Id="R11af2760c9be41e5" /><Relationship Type="http://schemas.openxmlformats.org/officeDocument/2006/relationships/notesMaster" Target="/ppt/notesMasters/notesMaster1.xml" Id="Rd0aaadfce6d04b22" /><Relationship Type="http://schemas.openxmlformats.org/officeDocument/2006/relationships/presProps" Target="/ppt/presProps.xml" Id="R4cd8c1574be24610" /><Relationship Type="http://schemas.openxmlformats.org/officeDocument/2006/relationships/tableStyles" Target="/ppt/tableStyles.xml" Id="Rb6b2dd30907443b6" /><Relationship Type="http://schemas.openxmlformats.org/officeDocument/2006/relationships/slide" Target="/ppt/slides/slide1.xml" Id="Rec71b511a4574395" /><Relationship Type="http://schemas.openxmlformats.org/officeDocument/2006/relationships/slide" Target="/ppt/slides/slide2.xml" Id="R856dfe95c80e4c24" /><Relationship Type="http://schemas.openxmlformats.org/officeDocument/2006/relationships/slide" Target="/ppt/slides/slide3.xml" Id="Rf49c4be653cb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e81c41ff57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f7092a7dfc4d6d" /><Relationship Type="http://schemas.openxmlformats.org/officeDocument/2006/relationships/notesMaster" Target="/ppt/notesMasters/notesMaster1.xml" Id="R55cbdd0b54ed4b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7a3c98f5ad4423" /><Relationship Type="http://schemas.openxmlformats.org/officeDocument/2006/relationships/notesMaster" Target="/ppt/notesMasters/notesMaster1.xml" Id="Re0751f9d007e4b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971e2d526649ff" /><Relationship Type="http://schemas.openxmlformats.org/officeDocument/2006/relationships/notesMaster" Target="/ppt/notesMasters/notesMaster1.xml" Id="R40071c59ff45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_assets/models/MojoTicketsModel.php (ecv_calc_var); views/administration/filtered_statistics.html.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consulta usa solved_on como fin y, si el ticket continúa abierto, usa la fecha y hora actuales. Fuente: _assets/models/MojoTicketsModel.php, ecv_calc_var (líneas 2445–2449 y 2482).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lógica vigente de urgentes mide tiempo transcurrido continuo (DATEDIFF en segundos). Para normales recorre fechas y omite solo sábado y domingo; no restringe las horas de cada día al rango 8:00–18:00. Fuente: _assets/models/MojoTicketsModel.php, ecv_calc_var (líneas 2429–2464 y 2498–2555).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b7adaf8294f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4fdbb07b842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707016c5e43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438a576ac4b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585f8fa4d4d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0c250813245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CD9B3A-57A5-4DE5-8B37-7C34434A3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7F8B54-66C2-416C-8DD6-816BCAA59E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9FF87B-7AD3-433E-9461-BEC512194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ED86EA-A216-4BA3-A173-1119C6219E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129C72-07D0-4733-A621-A2CD4CE725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B0A643-EB04-4DFD-80C2-9621632BD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F119B3-575A-4325-93CF-DB5810C4F8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A27D2B-79E7-4DD7-B319-8A503D7580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32CEDE-CF81-44D7-9D8C-A645F439A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66F99F-C017-4FB4-AC28-FDB5226923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59f57e98734cbb" /><Relationship Type="http://schemas.openxmlformats.org/officeDocument/2006/relationships/slideLayout" Target="/ppt/slideLayouts/slideLayout1.xml" Id="R0fd03641a9bc402d" /><Relationship Type="http://schemas.openxmlformats.org/officeDocument/2006/relationships/slideLayout" Target="/ppt/slideLayouts/slideLayout2.xml" Id="Re648607de67e41c3" /><Relationship Type="http://schemas.openxmlformats.org/officeDocument/2006/relationships/slideLayout" Target="/ppt/slideLayouts/slideLayout3.xml" Id="R353437239bff41ad" /><Relationship Type="http://schemas.openxmlformats.org/officeDocument/2006/relationships/slideLayout" Target="/ppt/slideLayouts/slideLayout4.xml" Id="R391ef535e8704187" /><Relationship Type="http://schemas.openxmlformats.org/officeDocument/2006/relationships/slideLayout" Target="/ppt/slideLayouts/slideLayout5.xml" Id="R6aaf4381a57844eb" /><Relationship Type="http://schemas.openxmlformats.org/officeDocument/2006/relationships/slideLayout" Target="/ppt/slideLayouts/slideLayout6.xml" Id="R3869b8c5063d48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d03641a9bc402d"/>
    <p:sldLayoutId xmlns:r="http://schemas.openxmlformats.org/officeDocument/2006/relationships" id="2147483650" r:id="Re648607de67e41c3"/>
    <p:sldLayoutId xmlns:r="http://schemas.openxmlformats.org/officeDocument/2006/relationships" id="2147483651" r:id="R353437239bff41ad"/>
    <p:sldLayoutId xmlns:r="http://schemas.openxmlformats.org/officeDocument/2006/relationships" id="2147483652" r:id="R391ef535e8704187"/>
    <p:sldLayoutId xmlns:r="http://schemas.openxmlformats.org/officeDocument/2006/relationships" id="2147483653" r:id="R6aaf4381a57844eb"/>
    <p:sldLayoutId xmlns:r="http://schemas.openxmlformats.org/officeDocument/2006/relationships" id="2147483654" r:id="R3869b8c5063d48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4a032a58d46e1" /><Relationship Type="http://schemas.openxmlformats.org/officeDocument/2006/relationships/notesSlide" Target="/ppt/notesSlides/notesSlide1.xml" Id="R3f62ec5ecb6e4d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a331551b1488f" /><Relationship Type="http://schemas.openxmlformats.org/officeDocument/2006/relationships/notesSlide" Target="/ppt/notesSlides/notesSlide2.xml" Id="R08391556b5e84b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8d79597234270" /><Relationship Type="http://schemas.openxmlformats.org/officeDocument/2006/relationships/notesSlide" Target="/ppt/notesSlides/notesSlide3.xml" Id="R61c9411b74f842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0E5D75-9AAB-4765-9B1C-A9EA6467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Horas de atención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de tickets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C16CBA-B948-4052-BD96-FA2873B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0">
                <a:solidFill>
                  <a:srgbClr val="C9D9E0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C9D9E0"/>
                </a:solidFill>
              </a:defRPr>
            </a:pPr>
            <a:r>
              <a:rPr sz="2175" b="0">
                <a:solidFill>
                  <a:srgbClr val="C9D9E0"/>
                </a:solidFill>
              </a:rPr>
              <a:t>Qué significa la diferencia entre urgente y normal</a:t>
            </a:r>
          </a:p>
        </p:txBody>
      </p:sp>
      <p:sp>
        <p:nvSpPr>
          <p:cNvPr id="3" name="accent-label">
            <a:extLst xmlns:a="http://schemas.openxmlformats.org/drawingml/2006/main">
              <a:ext uri="{FF2B5EF4-FFF2-40B4-BE49-F238E27FC236}">
                <a16:creationId xmlns:a16="http://schemas.microsoft.com/office/drawing/2014/main" id="{01D15EF9-4B73-4090-B90D-93F3E5ED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67C7BE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7C7BE"/>
                </a:solidFill>
              </a:defRPr>
            </a:pPr>
            <a:r>
              <a:rPr sz="1275" b="1">
                <a:solidFill>
                  <a:srgbClr val="67C7BE"/>
                </a:solidFill>
              </a:rPr>
              <a:t>LECTURA PARA GERENCIA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A779A8C-DD83-490D-A13A-FFE8C5DA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D8E2E7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8E2E7"/>
                </a:solidFill>
              </a:defRPr>
            </a:pPr>
            <a:r>
              <a:rPr sz="1500" b="0">
                <a:solidFill>
                  <a:srgbClr val="D8E2E7"/>
                </a:solidFill>
              </a:rPr>
              <a:t>Una misma medida de tiempo, con reglas distintas según la prioridad.</a:t>
            </a:r>
          </a:p>
        </p:txBody>
      </p:sp>
    </p:spTree>
    <p:extLst>
      <p:ext uri="{BB962C8B-B14F-4D97-AF65-F5344CB8AC3E}">
        <p14:creationId xmlns:p14="http://schemas.microsoft.com/office/powerpoint/2010/main" val="2126005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5C2554-EDBC-46B7-8FAF-17306824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525" b="1">
                <a:solidFill>
                  <a:srgbClr val="123047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525" b="1">
                <a:solidFill>
                  <a:srgbClr val="123047"/>
                </a:solidFill>
              </a:defRPr>
            </a:pPr>
            <a:r>
              <a:rPr sz="3525" b="1">
                <a:solidFill>
                  <a:srgbClr val="123047"/>
                </a:solidFill>
              </a:rPr>
              <a:t>Qué mide el indicador</a:t>
            </a:r>
          </a:p>
        </p:txBody>
      </p:sp>
      <p:sp>
        <p:nvSpPr>
          <p:cNvPr id="2" name="main">
            <a:extLst xmlns:a="http://schemas.openxmlformats.org/drawingml/2006/main">
              <a:ext uri="{FF2B5EF4-FFF2-40B4-BE49-F238E27FC236}">
                <a16:creationId xmlns:a16="http://schemas.microsoft.com/office/drawing/2014/main" id="{1598E298-2D31-4129-BBC3-5402ADB9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193448"/>
                </a:solidFill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193448"/>
                </a:solidFill>
              </a:defRPr>
            </a:pPr>
            <a:r>
              <a:rPr sz="3000" b="1">
                <a:solidFill>
                  <a:srgbClr val="193448"/>
                </a:solidFill>
              </a:rPr>
              <a:t>El tiempo que transcurre desde que se crea el ticket hasta que se resuelve.</a:t>
            </a:r>
          </a:p>
        </p:txBody>
      </p:sp>
      <p:sp>
        <p:nvSpPr>
          <p:cNvPr id="3" name="open">
            <a:extLst xmlns:a="http://schemas.openxmlformats.org/drawingml/2006/main">
              <a:ext uri="{FF2B5EF4-FFF2-40B4-BE49-F238E27FC236}">
                <a16:creationId xmlns:a16="http://schemas.microsoft.com/office/drawing/2014/main" id="{6CBAF85D-BA7B-4FA9-9B08-FDEB1B63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0">
                <a:solidFill>
                  <a:srgbClr val="526575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526575"/>
                </a:solidFill>
              </a:defRPr>
            </a:pPr>
            <a:r>
              <a:rPr sz="2175" b="0">
                <a:solidFill>
                  <a:srgbClr val="526575"/>
                </a:solidFill>
              </a:rPr>
              <a:t>Si sigue abierto, el conteo continúa hasta el momento actual.</a:t>
            </a:r>
          </a:p>
        </p:txBody>
      </p:sp>
      <p:sp>
        <p:nvSpPr>
          <p:cNvPr id="4" name="unit">
            <a:extLst xmlns:a="http://schemas.openxmlformats.org/drawingml/2006/main">
              <a:ext uri="{FF2B5EF4-FFF2-40B4-BE49-F238E27FC236}">
                <a16:creationId xmlns:a16="http://schemas.microsoft.com/office/drawing/2014/main" id="{20994195-7EBA-40C3-B4C3-678D62F7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68A8A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68A8A"/>
                </a:solidFill>
              </a:defRPr>
            </a:pPr>
            <a:r>
              <a:rPr sz="1875" b="1">
                <a:solidFill>
                  <a:srgbClr val="168A8A"/>
                </a:solidFill>
              </a:rPr>
              <a:t>El resultado se expresa en horas.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74DA4CCF-A37D-4359-ADE3-B7D0E3FE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125" b="1">
                <a:solidFill>
                  <a:srgbClr val="526575"/>
                </a:solidFill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26575"/>
                </a:solidFill>
              </a:defRPr>
            </a:pPr>
            <a:r>
              <a:rPr sz="1125" b="1">
                <a:solidFill>
                  <a:srgbClr val="5265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8403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4C70001-47B5-4BA8-8F8D-60B4E79F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75" b="1">
                <a:solidFill>
                  <a:srgbClr val="123047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23047"/>
                </a:solidFill>
              </a:defRPr>
            </a:pPr>
            <a:r>
              <a:rPr sz="3375" b="1">
                <a:solidFill>
                  <a:srgbClr val="123047"/>
                </a:solidFill>
              </a:rPr>
              <a:t>Urgente y normal: ¿qué cambia?</a:t>
            </a:r>
          </a:p>
        </p:txBody>
      </p:sp>
      <p:sp>
        <p:nvSpPr>
          <p:cNvPr id="2" name="urgent-heading">
            <a:extLst xmlns:a="http://schemas.openxmlformats.org/drawingml/2006/main">
              <a:ext uri="{FF2B5EF4-FFF2-40B4-BE49-F238E27FC236}">
                <a16:creationId xmlns:a16="http://schemas.microsoft.com/office/drawing/2014/main" id="{7536ABF8-2A06-4020-8F24-64DE2D3A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68A8A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68A8A"/>
                </a:solidFill>
              </a:defRPr>
            </a:pPr>
            <a:r>
              <a:rPr sz="1875" b="1">
                <a:solidFill>
                  <a:srgbClr val="168A8A"/>
                </a:solidFill>
              </a:rPr>
              <a:t>URGENTE</a:t>
            </a:r>
          </a:p>
        </p:txBody>
      </p:sp>
      <p:sp>
        <p:nvSpPr>
          <p:cNvPr id="3" name="urgent-copy">
            <a:extLst xmlns:a="http://schemas.openxmlformats.org/drawingml/2006/main">
              <a:ext uri="{FF2B5EF4-FFF2-40B4-BE49-F238E27FC236}">
                <a16:creationId xmlns:a16="http://schemas.microsoft.com/office/drawing/2014/main" id="{D5651567-68F9-4C63-9B41-8B3F823B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0">
                <a:solidFill>
                  <a:srgbClr val="193448"/>
                </a:solidFill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193448"/>
                </a:solidFill>
              </a:defRPr>
            </a:pPr>
            <a:r>
              <a:rPr sz="2400" b="0">
                <a:solidFill>
                  <a:srgbClr val="193448"/>
                </a:solidFill>
              </a:rPr>
              <a:t>Cuenta el tiempo corrido,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193448"/>
                </a:solidFill>
              </a:defRPr>
            </a:pPr>
            <a:r>
              <a:rPr sz="2400" b="0">
                <a:solidFill>
                  <a:srgbClr val="193448"/>
                </a:solidFill>
              </a:rPr>
              <a:t>incluidas noches y fines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193448"/>
                </a:solidFill>
              </a:defRPr>
            </a:pPr>
            <a:r>
              <a:rPr sz="2400" b="0">
                <a:solidFill>
                  <a:srgbClr val="193448"/>
                </a:solidFill>
              </a:rPr>
              <a:t>de semana.</a:t>
            </a:r>
          </a:p>
        </p:txBody>
      </p:sp>
      <p:sp>
        <p:nvSpPr>
          <p:cNvPr id="4" name="normal-heading">
            <a:extLst xmlns:a="http://schemas.openxmlformats.org/drawingml/2006/main">
              <a:ext uri="{FF2B5EF4-FFF2-40B4-BE49-F238E27FC236}">
                <a16:creationId xmlns:a16="http://schemas.microsoft.com/office/drawing/2014/main" id="{AE143BE6-33F8-4CDD-8AED-0D14090E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B77912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B77912"/>
                </a:solidFill>
              </a:defRPr>
            </a:pPr>
            <a:r>
              <a:rPr sz="1875" b="1">
                <a:solidFill>
                  <a:srgbClr val="B77912"/>
                </a:solidFill>
              </a:rPr>
              <a:t>NORMAL</a:t>
            </a:r>
          </a:p>
        </p:txBody>
      </p:sp>
      <p:sp>
        <p:nvSpPr>
          <p:cNvPr id="5" name="normal-copy">
            <a:extLst xmlns:a="http://schemas.openxmlformats.org/drawingml/2006/main">
              <a:ext uri="{FF2B5EF4-FFF2-40B4-BE49-F238E27FC236}">
                <a16:creationId xmlns:a16="http://schemas.microsoft.com/office/drawing/2014/main" id="{8559767F-EDDF-45B9-AA44-C5AA638B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0">
                <a:solidFill>
                  <a:srgbClr val="193448"/>
                </a:solidFill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193448"/>
                </a:solidFill>
              </a:defRPr>
            </a:pPr>
            <a:r>
              <a:rPr sz="2400" b="0">
                <a:solidFill>
                  <a:srgbClr val="193448"/>
                </a:solidFill>
              </a:rPr>
              <a:t>Suma tiempo de lunes a viernes.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193448"/>
                </a:solidFill>
              </a:defRPr>
            </a:pPr>
            <a:r>
              <a:rPr sz="2400" b="0">
                <a:solidFill>
                  <a:srgbClr val="193448"/>
                </a:solidFill>
              </a:rPr>
              <a:t>Sábados y domingos no cuentan.</a:t>
            </a:r>
          </a:p>
        </p:txBody>
      </p:sp>
      <p:sp>
        <p:nvSpPr>
          <p:cNvPr id="6" name="summary">
            <a:extLst xmlns:a="http://schemas.openxmlformats.org/drawingml/2006/main">
              <a:ext uri="{FF2B5EF4-FFF2-40B4-BE49-F238E27FC236}">
                <a16:creationId xmlns:a16="http://schemas.microsoft.com/office/drawing/2014/main" id="{F852AA0E-688A-4907-A189-98AE2CFF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23047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3047"/>
                </a:solidFill>
              </a:defRPr>
            </a:pPr>
            <a:r>
              <a:rPr sz="1875" b="1">
                <a:solidFill>
                  <a:srgbClr val="123047"/>
                </a:solidFill>
              </a:rPr>
              <a:t>Urgente = tiempo continuo   ·   Normal = tiempo entre semana</a:t>
            </a:r>
          </a:p>
        </p:txBody>
      </p:sp>
      <p:sp>
        <p:nvSpPr>
          <p:cNvPr id="7" name="caveat">
            <a:extLst xmlns:a="http://schemas.openxmlformats.org/drawingml/2006/main">
              <a:ext uri="{FF2B5EF4-FFF2-40B4-BE49-F238E27FC236}">
                <a16:creationId xmlns:a16="http://schemas.microsoft.com/office/drawing/2014/main" id="{B67B2C23-7578-43AC-A729-2A15EA76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0">
                <a:solidFill>
                  <a:srgbClr val="526575"/>
                </a:solidFill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526575"/>
                </a:solidFill>
              </a:defRPr>
            </a:pPr>
            <a:r>
              <a:rPr sz="1425" b="0">
                <a:solidFill>
                  <a:srgbClr val="526575"/>
                </a:solidFill>
              </a:rPr>
              <a:t>Nota: en el cálculo actual, “normal” no se limita a 8:00–18:00; solo se excluyen sábados y domingos.</a:t>
            </a:r>
          </a:p>
        </p:txBody>
      </p:sp>
      <p:sp>
        <p:nvSpPr>
          <p:cNvPr id="8" name="page-3">
            <a:extLst xmlns:a="http://schemas.openxmlformats.org/drawingml/2006/main">
              <a:ext uri="{FF2B5EF4-FFF2-40B4-BE49-F238E27FC236}">
                <a16:creationId xmlns:a16="http://schemas.microsoft.com/office/drawing/2014/main" id="{E49E259E-28D7-41E1-BDD7-B677E663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125" b="1">
                <a:solidFill>
                  <a:srgbClr val="526575"/>
                </a:solidFill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26575"/>
                </a:solidFill>
              </a:defRPr>
            </a:pPr>
            <a:r>
              <a:rPr sz="1125" b="1">
                <a:solidFill>
                  <a:srgbClr val="5265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6366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2026-10-13T19:53:43.9660000Z</dcterms:created>
  <dcterms:modified xsi:type="dcterms:W3CDTF">2026-10-13T19:53:43.9660000Z</dcterms:modified>
</coreProperties>
</file>